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B6B7F"/>
                </a:solidFill>
                <a:latin typeface="Arial"/>
              </a:defRPr>
            </a:pPr>
            <a:r>
              <a:rPr sz="1200" b="0" i="0" u="none" strike="noStrike">
                <a:solidFill>
                  <a:srgbClr val="5B6B7F"/>
                </a:solidFill>
                <a:latin typeface="Arial"/>
              </a:rPr>
              <a:t>Test MSE, lower is better (axis starts at 300)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2017-18</c:v>
                </c:pt>
              </c:strCache>
            </c:strRef>
          </c:tx>
          <c:spPr>
            <a:solidFill>
              <a:srgbClr val="F26B21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5B6B7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Ridge</c:v>
                  </c:pt>
                  <c:pt idx="1">
                    <c:v>LSTM</c:v>
                  </c:pt>
                  <c:pt idx="2">
                    <c:v>Random Forest</c:v>
                  </c:pt>
                  <c:pt idx="3">
                    <c:v>Neural Net</c:v>
                  </c:pt>
                  <c:pt idx="4">
                    <c:v>Collab. Filt.</c:v>
                  </c:pt>
                  <c:pt idx="5">
                    <c:v>Sportsbook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347.35</c:v>
                </c:pt>
                <c:pt idx="1">
                  <c:v>347.36</c:v>
                </c:pt>
                <c:pt idx="2">
                  <c:v>351.73</c:v>
                </c:pt>
                <c:pt idx="3">
                  <c:v>352.3</c:v>
                </c:pt>
                <c:pt idx="4">
                  <c:v>418.23</c:v>
                </c:pt>
                <c:pt idx="5">
                  <c:v>323.27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Test 2025-26</c:v>
                </c:pt>
              </c:strCache>
            </c:strRef>
          </c:tx>
          <c:spPr>
            <a:solidFill>
              <a:srgbClr val="0F1B2D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5B6B7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Ridge</c:v>
                  </c:pt>
                  <c:pt idx="1">
                    <c:v>LSTM</c:v>
                  </c:pt>
                  <c:pt idx="2">
                    <c:v>Random Forest</c:v>
                  </c:pt>
                  <c:pt idx="3">
                    <c:v>Neural Net</c:v>
                  </c:pt>
                  <c:pt idx="4">
                    <c:v>Collab. Filt.</c:v>
                  </c:pt>
                  <c:pt idx="5">
                    <c:v>Sportsbook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367.16</c:v>
                </c:pt>
                <c:pt idx="1">
                  <c:v>370.03</c:v>
                </c:pt>
                <c:pt idx="2">
                  <c:v>372.82</c:v>
                </c:pt>
                <c:pt idx="3">
                  <c:v>381.4</c:v>
                </c:pt>
                <c:pt idx="4">
                  <c:v>423.75</c:v>
                </c:pt>
                <c:pt idx="5">
                  <c:v>334.26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800" u="none">
                  <a:solidFill>
                    <a:srgbClr val="5B6B7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50"/>
          <c:min val="300"/>
        </c:scaling>
        <c:delete val="0"/>
        <c:axPos val="l"/>
        <c:majorGridlines>
          <c:spPr>
            <a:ln w="6350" cap="flat">
              <a:solidFill>
                <a:srgbClr val="E1E6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B6B7F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1188720"/>
            <a:ext cx="2377440" cy="2377440"/>
          </a:xfrm>
          <a:prstGeom prst="ellipse">
            <a:avLst/>
          </a:prstGeom>
          <a:solidFill>
            <a:srgbClr val="F26B21"/>
          </a:solidFill>
          <a:ln w="12700">
            <a:solidFill>
              <a:srgbClr val="F26B2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06640" y="1188720"/>
            <a:ext cx="0" cy="2377440"/>
          </a:xfrm>
          <a:prstGeom prst="line">
            <a:avLst/>
          </a:prstGeom>
          <a:noFill/>
          <a:ln w="50800">
            <a:solidFill>
              <a:srgbClr val="0F1B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2377440"/>
            <a:ext cx="2377440" cy="0"/>
          </a:xfrm>
          <a:prstGeom prst="line">
            <a:avLst/>
          </a:prstGeom>
          <a:noFill/>
          <a:ln w="50800">
            <a:solidFill>
              <a:srgbClr val="0F1B2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097280"/>
            <a:ext cx="5394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NBA Game Totals Against the Sportsbook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8892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machine learning beat the Over/Under line?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6576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E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UE24CS352A Machine Learning, Mini-Project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E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Nishitha S (PES1UG24AM180)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E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Mallikarjuna Rao R.V (PES1UG24AM155)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229600" y="457200"/>
            <a:ext cx="411480" cy="411480"/>
          </a:xfrm>
          <a:prstGeom prst="ellipse">
            <a:avLst/>
          </a:prstGeom>
          <a:solidFill>
            <a:srgbClr val="F26B21"/>
          </a:solidFill>
          <a:ln w="12700">
            <a:solidFill>
              <a:srgbClr val="F26B2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35340" y="457200"/>
            <a:ext cx="0" cy="411480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662940"/>
            <a:ext cx="411480" cy="0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280160"/>
            <a:ext cx="48463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each game, sportsbooks publish an Over/Under: their guess for the combined points of both teams.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predict that total from pre-game information only, and compare with the sportsbook.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measures: MSE (average squared error, lower is better) and Beats % (how often we pick the correct side of the line).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760720" y="1280160"/>
            <a:ext cx="2834640" cy="2926080"/>
          </a:xfrm>
          <a:prstGeom prst="roundRect">
            <a:avLst>
              <a:gd name="adj" fmla="val 3871"/>
            </a:avLst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8932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989320" y="18288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26B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215.5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5989320" y="2560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sportsbook's line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989320" y="30175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total 218: Over wins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total 205: Under wins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Bucquet and Sarukkai, "The Bank is Open: AI in Sports Gambling", Stanford CS229. Code: github.com/abucquet/bank_is_open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and Features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229600" y="457200"/>
            <a:ext cx="411480" cy="411480"/>
          </a:xfrm>
          <a:prstGeom prst="ellipse">
            <a:avLst/>
          </a:prstGeom>
          <a:solidFill>
            <a:srgbClr val="F26B21"/>
          </a:solidFill>
          <a:ln w="12700">
            <a:solidFill>
              <a:srgbClr val="F26B2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35340" y="457200"/>
            <a:ext cx="0" cy="411480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662940"/>
            <a:ext cx="411480" cy="0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80160"/>
            <a:ext cx="3931920" cy="3108960"/>
          </a:xfrm>
          <a:prstGeom prst="roundRect">
            <a:avLst>
              <a:gd name="adj" fmla="val 3529"/>
            </a:avLst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663440" y="1280160"/>
            <a:ext cx="3931920" cy="3108960"/>
          </a:xfrm>
          <a:prstGeom prst="roundRect">
            <a:avLst>
              <a:gd name="adj" fmla="val 3529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417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1874520"/>
            <a:ext cx="3474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NBA Betting Data: 22,808 regular-season games, 2007-08 to 2025-26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Scores, quarter scores and the closing Over/Under line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split: train 2012-13 to 2015-16, test 2017-18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split: train 2020-21 to 2023-24, test 2025-26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line is used only for evaluation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1417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1874520"/>
            <a:ext cx="3474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team's last 3 games: points scored and allowed, quarter and overtime points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Opponent strength: their season averages in those games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addition: averages over the last 10 and 20 games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of rest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 inputs per game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3-game window follows the paper; the paper's box-score and distance features are not in our dataset.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Models Compared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229600" y="457200"/>
            <a:ext cx="411480" cy="411480"/>
          </a:xfrm>
          <a:prstGeom prst="ellipse">
            <a:avLst/>
          </a:prstGeom>
          <a:solidFill>
            <a:srgbClr val="F26B21"/>
          </a:solidFill>
          <a:ln w="12700">
            <a:solidFill>
              <a:srgbClr val="F26B2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35340" y="457200"/>
            <a:ext cx="0" cy="411480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662940"/>
            <a:ext cx="411480" cy="0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34440"/>
            <a:ext cx="457200" cy="45720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2344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Ridge regression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3931920" y="12344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model with a penalty on large weights (our addition)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1874520"/>
            <a:ext cx="457200" cy="457200"/>
          </a:xfrm>
          <a:prstGeom prst="ellipse">
            <a:avLst/>
          </a:prstGeom>
          <a:solidFill>
            <a:srgbClr val="F26B21"/>
          </a:solidFill>
          <a:ln w="12700">
            <a:solidFill>
              <a:srgbClr val="F26B2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18745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3931920" y="1874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decision trees that vote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2514600"/>
            <a:ext cx="457200" cy="457200"/>
          </a:xfrm>
          <a:prstGeom prst="ellipse">
            <a:avLst/>
          </a:prstGeom>
          <a:solidFill>
            <a:srgbClr val="F26B21"/>
          </a:solidFill>
          <a:ln w="12700">
            <a:solidFill>
              <a:srgbClr val="F26B2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2514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Collaborative filtering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3931920" y="25146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movie recommendations: learns from recent games between other teams (SVD)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154680"/>
            <a:ext cx="457200" cy="457200"/>
          </a:xfrm>
          <a:prstGeom prst="ellipse">
            <a:avLst/>
          </a:prstGeom>
          <a:solidFill>
            <a:srgbClr val="F26B21"/>
          </a:solidFill>
          <a:ln w="12700">
            <a:solidFill>
              <a:srgbClr val="F26B2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188720" y="31546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Neural network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3931920" y="31546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connected layers 500, 100, 20, 1 with ReLU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3794760"/>
            <a:ext cx="457200" cy="457200"/>
          </a:xfrm>
          <a:prstGeom prst="ellipse">
            <a:avLst/>
          </a:prstGeom>
          <a:solidFill>
            <a:srgbClr val="F26B21"/>
          </a:solidFill>
          <a:ln w="12700">
            <a:solidFill>
              <a:srgbClr val="F26B2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864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188720" y="37947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LSTM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3931920" y="37947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last 3 games in order, 20 hidden units, dropout 0.2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2 to 5 follow Bucquet and Sarukkai; Ridge regression is our addition.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229600" y="457200"/>
            <a:ext cx="411480" cy="411480"/>
          </a:xfrm>
          <a:prstGeom prst="ellipse">
            <a:avLst/>
          </a:prstGeom>
          <a:solidFill>
            <a:srgbClr val="F26B21"/>
          </a:solidFill>
          <a:ln w="12700">
            <a:solidFill>
              <a:srgbClr val="F26B2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35340" y="457200"/>
            <a:ext cx="0" cy="411480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662940"/>
            <a:ext cx="411480" cy="0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457200" y="1143000"/>
          <a:ext cx="55778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309360" y="1188720"/>
            <a:ext cx="2377440" cy="960120"/>
          </a:xfrm>
          <a:prstGeom prst="roundRect">
            <a:avLst>
              <a:gd name="adj" fmla="val 11429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46520" y="12344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6B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323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6446520" y="17373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Sportsbook MSE, the most accurate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309360" y="2286000"/>
            <a:ext cx="2377440" cy="960120"/>
          </a:xfrm>
          <a:prstGeom prst="roundRect">
            <a:avLst>
              <a:gd name="adj" fmla="val 11429"/>
            </a:avLst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46520" y="23317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347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6446520" y="2834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best (Ridge and LSTM)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309360" y="3383280"/>
            <a:ext cx="2377440" cy="960120"/>
          </a:xfrm>
          <a:prstGeom prst="roundRect">
            <a:avLst>
              <a:gd name="adj" fmla="val 11429"/>
            </a:avLst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46520" y="34290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49-51%</a:t>
            </a:r>
            <a:endParaRPr lang="en-US" sz="2800" dirty="0"/>
          </a:p>
        </p:txBody>
      </p:sp>
      <p:sp>
        <p:nvSpPr>
          <p:cNvPr id="15" name="Text 12"/>
          <p:cNvSpPr txBox="1"/>
          <p:nvPr/>
        </p:nvSpPr>
        <p:spPr>
          <a:xfrm>
            <a:off x="6446520" y="39319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Beats % on both splits: chance level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229600" y="457200"/>
            <a:ext cx="411480" cy="411480"/>
          </a:xfrm>
          <a:prstGeom prst="ellipse">
            <a:avLst/>
          </a:prstGeom>
          <a:solidFill>
            <a:srgbClr val="F26B21"/>
          </a:solidFill>
          <a:ln w="12700">
            <a:solidFill>
              <a:srgbClr val="F26B2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35340" y="457200"/>
            <a:ext cx="0" cy="411480"/>
          </a:xfrm>
          <a:prstGeom prst="line">
            <a:avLst/>
          </a:prstGeom>
          <a:noFill/>
          <a:ln w="15875">
            <a:solidFill>
              <a:srgbClr val="0F1B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662940"/>
            <a:ext cx="411480" cy="0"/>
          </a:xfrm>
          <a:prstGeom prst="line">
            <a:avLst/>
          </a:prstGeom>
          <a:noFill/>
          <a:ln w="15875">
            <a:solidFill>
              <a:srgbClr val="0F1B2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280160"/>
            <a:ext cx="4937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sportsbook line beats all our models (MSE 323 vs about 347; 334 vs about 367 on recent data).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history helps: 10- and 20-game averages cut our error by about 10% versus the paper's 3-game window.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conclusion as the paper, and it holds on 2025-26 data.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852160" y="1280160"/>
            <a:ext cx="2743200" cy="2651760"/>
          </a:xfrm>
          <a:prstGeom prst="roundRect">
            <a:avLst>
              <a:gd name="adj" fmla="val 4138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035040" y="14173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6B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49-51%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6035040" y="2240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games: correct side of the line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035040" y="28346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E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52-53% is needed to profit after fees, so there is no reliable betting edge.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1148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E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and next steps: no injuries, player-level or box-score data. Add them and try predicting Over/Under directly.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 and Questions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229600" y="457200"/>
            <a:ext cx="411480" cy="411480"/>
          </a:xfrm>
          <a:prstGeom prst="ellipse">
            <a:avLst/>
          </a:prstGeom>
          <a:solidFill>
            <a:srgbClr val="F26B21"/>
          </a:solidFill>
          <a:ln w="12700">
            <a:solidFill>
              <a:srgbClr val="F26B2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35340" y="457200"/>
            <a:ext cx="0" cy="411480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662940"/>
            <a:ext cx="411480" cy="0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188720"/>
            <a:ext cx="5120640" cy="1737360"/>
          </a:xfrm>
          <a:prstGeom prst="roundRect">
            <a:avLst>
              <a:gd name="adj" fmla="val 6316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28016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-r requirements.txt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prepare_data.py nba_2008-2026.csv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main.py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main.py --train 2021,2022,2023,2024 --val 2025 --test 2026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943600" y="1234440"/>
            <a:ext cx="2651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 test MSE and Beats % for all five models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and README on our private GitHub repo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154680"/>
            <a:ext cx="8046720" cy="1417320"/>
          </a:xfrm>
          <a:prstGeom prst="roundRect">
            <a:avLst>
              <a:gd name="adj" fmla="val 7742"/>
            </a:avLst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246120"/>
            <a:ext cx="7589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Bucquet, A. and Sarukkai, V. The Bank is Open: AI in Sports Gambling. Stanford CS229 project report.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Authors' code: github.com/abucquet/bank_is_open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Kaggle, NBA Betting Data (scores and Over/Under lines, 2007-2026)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2026-10-13T07:18:01Z</dcterms:created>
  <dcterms:modified xsi:type="dcterms:W3CDTF">2026-10-13T07:18:01Z</dcterms:modified>
</cp:coreProperties>
</file>